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Be Vietnam" charset="1" panose="00000500000000000000"/>
      <p:regular r:id="rId21"/>
    </p:embeddedFont>
    <p:embeddedFont>
      <p:font typeface="Roca Two Bold" charset="1" panose="00000800000000000000"/>
      <p:regular r:id="rId22"/>
    </p:embeddedFont>
    <p:embeddedFont>
      <p:font typeface="Roca Two" charset="1" panose="00000500000000000000"/>
      <p:regular r:id="rId23"/>
    </p:embeddedFont>
    <p:embeddedFont>
      <p:font typeface="Be Vietnam Ultra-Bold" charset="1" panose="000009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0429875" y="666750"/>
            <a:ext cx="7191375" cy="8953500"/>
            <a:chOff x="0" y="0"/>
            <a:chExt cx="1274296" cy="1586541"/>
          </a:xfrm>
        </p:grpSpPr>
        <p:sp>
          <p:nvSpPr>
            <p:cNvPr name="Freeform 3" id="3"/>
            <p:cNvSpPr/>
            <p:nvPr/>
          </p:nvSpPr>
          <p:spPr>
            <a:xfrm flipH="false" flipV="false" rot="0">
              <a:off x="0" y="0"/>
              <a:ext cx="1274296" cy="1586541"/>
            </a:xfrm>
            <a:custGeom>
              <a:avLst/>
              <a:gdLst/>
              <a:ahLst/>
              <a:cxnLst/>
              <a:rect r="r" b="b" t="t" l="l"/>
              <a:pathLst>
                <a:path h="1586541" w="1274296">
                  <a:moveTo>
                    <a:pt x="29067" y="0"/>
                  </a:moveTo>
                  <a:lnTo>
                    <a:pt x="1245229" y="0"/>
                  </a:lnTo>
                  <a:cubicBezTo>
                    <a:pt x="1261283" y="0"/>
                    <a:pt x="1274296" y="13014"/>
                    <a:pt x="1274296" y="29067"/>
                  </a:cubicBezTo>
                  <a:lnTo>
                    <a:pt x="1274296" y="1557474"/>
                  </a:lnTo>
                  <a:cubicBezTo>
                    <a:pt x="1274296" y="1565183"/>
                    <a:pt x="1271234" y="1572576"/>
                    <a:pt x="1265783" y="1578028"/>
                  </a:cubicBezTo>
                  <a:cubicBezTo>
                    <a:pt x="1260332" y="1583479"/>
                    <a:pt x="1252938" y="1586541"/>
                    <a:pt x="1245229" y="1586541"/>
                  </a:cubicBezTo>
                  <a:lnTo>
                    <a:pt x="29067" y="1586541"/>
                  </a:lnTo>
                  <a:cubicBezTo>
                    <a:pt x="21358" y="1586541"/>
                    <a:pt x="13965" y="1583479"/>
                    <a:pt x="8514" y="1578028"/>
                  </a:cubicBezTo>
                  <a:cubicBezTo>
                    <a:pt x="3062" y="1572576"/>
                    <a:pt x="0" y="1565183"/>
                    <a:pt x="0" y="1557474"/>
                  </a:cubicBezTo>
                  <a:lnTo>
                    <a:pt x="0" y="29067"/>
                  </a:lnTo>
                  <a:cubicBezTo>
                    <a:pt x="0" y="21358"/>
                    <a:pt x="3062" y="13965"/>
                    <a:pt x="8514" y="8514"/>
                  </a:cubicBezTo>
                  <a:cubicBezTo>
                    <a:pt x="13965" y="3062"/>
                    <a:pt x="21358" y="0"/>
                    <a:pt x="29067" y="0"/>
                  </a:cubicBezTo>
                  <a:close/>
                </a:path>
              </a:pathLst>
            </a:custGeom>
            <a:blipFill>
              <a:blip r:embed="rId2"/>
              <a:stretch>
                <a:fillRect l="0" t="-199" r="0" b="-199"/>
              </a:stretch>
            </a:blipFill>
          </p:spPr>
        </p:sp>
      </p:grpSp>
      <p:sp>
        <p:nvSpPr>
          <p:cNvPr name="TextBox 4" id="4"/>
          <p:cNvSpPr txBox="true"/>
          <p:nvPr/>
        </p:nvSpPr>
        <p:spPr>
          <a:xfrm rot="0">
            <a:off x="666750" y="9138920"/>
            <a:ext cx="8324850" cy="481330"/>
          </a:xfrm>
          <a:prstGeom prst="rect">
            <a:avLst/>
          </a:prstGeom>
        </p:spPr>
        <p:txBody>
          <a:bodyPr anchor="t" rtlCol="false" tIns="0" lIns="0" bIns="0" rIns="0">
            <a:spAutoFit/>
          </a:bodyPr>
          <a:lstStyle/>
          <a:p>
            <a:pPr algn="ctr" marL="0" indent="0" lvl="0">
              <a:lnSpc>
                <a:spcPts val="3919"/>
              </a:lnSpc>
              <a:spcBef>
                <a:spcPct val="0"/>
              </a:spcBef>
            </a:pPr>
            <a:r>
              <a:rPr lang="en-US" sz="2799" spc="55">
                <a:solidFill>
                  <a:srgbClr val="3A3A3A"/>
                </a:solidFill>
                <a:latin typeface="Be Vietnam"/>
                <a:ea typeface="Be Vietnam"/>
                <a:cs typeface="Be Vietnam"/>
                <a:sym typeface="Be Vietnam"/>
              </a:rPr>
              <a:t>PRESENTED BY [PRESENTER NAME]</a:t>
            </a:r>
          </a:p>
        </p:txBody>
      </p:sp>
      <p:sp>
        <p:nvSpPr>
          <p:cNvPr name="TextBox 5" id="5"/>
          <p:cNvSpPr txBox="true"/>
          <p:nvPr/>
        </p:nvSpPr>
        <p:spPr>
          <a:xfrm rot="0">
            <a:off x="666750" y="619125"/>
            <a:ext cx="8324850" cy="471727"/>
          </a:xfrm>
          <a:prstGeom prst="rect">
            <a:avLst/>
          </a:prstGeom>
        </p:spPr>
        <p:txBody>
          <a:bodyPr anchor="t" rtlCol="false" tIns="0" lIns="0" bIns="0" rIns="0">
            <a:spAutoFit/>
          </a:bodyPr>
          <a:lstStyle/>
          <a:p>
            <a:pPr algn="ctr" marL="0" indent="0" lvl="0">
              <a:lnSpc>
                <a:spcPts val="3924"/>
              </a:lnSpc>
              <a:spcBef>
                <a:spcPct val="0"/>
              </a:spcBef>
            </a:pPr>
            <a:r>
              <a:rPr lang="en-US" b="true" sz="2803">
                <a:solidFill>
                  <a:srgbClr val="5D81A9"/>
                </a:solidFill>
                <a:latin typeface="Roca Two Bold"/>
                <a:ea typeface="Roca Two Bold"/>
                <a:cs typeface="Roca Two Bold"/>
                <a:sym typeface="Roca Two Bold"/>
              </a:rPr>
              <a:t>QUEUESENSE</a:t>
            </a:r>
          </a:p>
        </p:txBody>
      </p:sp>
      <p:grpSp>
        <p:nvGrpSpPr>
          <p:cNvPr name="Group 6" id="6"/>
          <p:cNvGrpSpPr/>
          <p:nvPr/>
        </p:nvGrpSpPr>
        <p:grpSpPr>
          <a:xfrm rot="0">
            <a:off x="666750" y="2882875"/>
            <a:ext cx="8324850" cy="4228206"/>
            <a:chOff x="0" y="0"/>
            <a:chExt cx="11099800" cy="5637608"/>
          </a:xfrm>
        </p:grpSpPr>
        <p:sp>
          <p:nvSpPr>
            <p:cNvPr name="TextBox 7" id="7"/>
            <p:cNvSpPr txBox="true"/>
            <p:nvPr/>
          </p:nvSpPr>
          <p:spPr>
            <a:xfrm rot="0">
              <a:off x="0" y="257175"/>
              <a:ext cx="11099800" cy="4577291"/>
            </a:xfrm>
            <a:prstGeom prst="rect">
              <a:avLst/>
            </a:prstGeom>
          </p:spPr>
          <p:txBody>
            <a:bodyPr anchor="t" rtlCol="false" tIns="0" lIns="0" bIns="0" rIns="0">
              <a:spAutoFit/>
            </a:bodyPr>
            <a:lstStyle/>
            <a:p>
              <a:pPr algn="ctr" marL="0" indent="0" lvl="0">
                <a:lnSpc>
                  <a:spcPts val="12999"/>
                </a:lnSpc>
              </a:pPr>
              <a:r>
                <a:rPr lang="en-US" sz="12999">
                  <a:solidFill>
                    <a:srgbClr val="3A3A3A"/>
                  </a:solidFill>
                  <a:latin typeface="Roca Two"/>
                  <a:ea typeface="Roca Two"/>
                  <a:cs typeface="Roca Two"/>
                  <a:sym typeface="Roca Two"/>
                </a:rPr>
                <a:t>Predict wait-times</a:t>
              </a:r>
            </a:p>
          </p:txBody>
        </p:sp>
        <p:sp>
          <p:nvSpPr>
            <p:cNvPr name="Freeform 8" id="8"/>
            <p:cNvSpPr/>
            <p:nvPr/>
          </p:nvSpPr>
          <p:spPr>
            <a:xfrm flipH="false" flipV="false" rot="0">
              <a:off x="4309308" y="4925894"/>
              <a:ext cx="707832" cy="711714"/>
            </a:xfrm>
            <a:custGeom>
              <a:avLst/>
              <a:gdLst/>
              <a:ahLst/>
              <a:cxnLst/>
              <a:rect r="r" b="b" t="t" l="l"/>
              <a:pathLst>
                <a:path h="711714" w="707832">
                  <a:moveTo>
                    <a:pt x="0" y="0"/>
                  </a:moveTo>
                  <a:lnTo>
                    <a:pt x="707832" y="0"/>
                  </a:lnTo>
                  <a:lnTo>
                    <a:pt x="707832" y="711714"/>
                  </a:lnTo>
                  <a:lnTo>
                    <a:pt x="0" y="7117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5194079" y="4925894"/>
              <a:ext cx="707832" cy="711714"/>
            </a:xfrm>
            <a:custGeom>
              <a:avLst/>
              <a:gdLst/>
              <a:ahLst/>
              <a:cxnLst/>
              <a:rect r="r" b="b" t="t" l="l"/>
              <a:pathLst>
                <a:path h="711714" w="707832">
                  <a:moveTo>
                    <a:pt x="0" y="0"/>
                  </a:moveTo>
                  <a:lnTo>
                    <a:pt x="707832" y="0"/>
                  </a:lnTo>
                  <a:lnTo>
                    <a:pt x="707832" y="711714"/>
                  </a:lnTo>
                  <a:lnTo>
                    <a:pt x="0" y="7117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6082660" y="4925894"/>
              <a:ext cx="707832" cy="711714"/>
            </a:xfrm>
            <a:custGeom>
              <a:avLst/>
              <a:gdLst/>
              <a:ahLst/>
              <a:cxnLst/>
              <a:rect r="r" b="b" t="t" l="l"/>
              <a:pathLst>
                <a:path h="711714" w="707832">
                  <a:moveTo>
                    <a:pt x="0" y="0"/>
                  </a:moveTo>
                  <a:lnTo>
                    <a:pt x="707832" y="0"/>
                  </a:lnTo>
                  <a:lnTo>
                    <a:pt x="707832" y="711714"/>
                  </a:lnTo>
                  <a:lnTo>
                    <a:pt x="0" y="7117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AutoShape 2" id="2"/>
          <p:cNvSpPr/>
          <p:nvPr/>
        </p:nvSpPr>
        <p:spPr>
          <a:xfrm>
            <a:off x="9296400" y="685800"/>
            <a:ext cx="8324850" cy="0"/>
          </a:xfrm>
          <a:prstGeom prst="line">
            <a:avLst/>
          </a:prstGeom>
          <a:ln cap="flat" w="28575">
            <a:solidFill>
              <a:srgbClr val="3A3A3A"/>
            </a:solidFill>
            <a:prstDash val="solid"/>
            <a:headEnd type="none" len="sm" w="sm"/>
            <a:tailEnd type="none" len="sm" w="sm"/>
          </a:ln>
        </p:spPr>
      </p:sp>
      <p:sp>
        <p:nvSpPr>
          <p:cNvPr name="Freeform 3" id="3"/>
          <p:cNvSpPr/>
          <p:nvPr/>
        </p:nvSpPr>
        <p:spPr>
          <a:xfrm flipH="false" flipV="false" rot="0">
            <a:off x="2717858" y="8060757"/>
            <a:ext cx="1550987" cy="1559493"/>
          </a:xfrm>
          <a:custGeom>
            <a:avLst/>
            <a:gdLst/>
            <a:ahLst/>
            <a:cxnLst/>
            <a:rect r="r" b="b" t="t" l="l"/>
            <a:pathLst>
              <a:path h="1559493" w="1550987">
                <a:moveTo>
                  <a:pt x="0" y="0"/>
                </a:moveTo>
                <a:lnTo>
                  <a:pt x="1550986" y="0"/>
                </a:lnTo>
                <a:lnTo>
                  <a:pt x="1550986" y="1559493"/>
                </a:lnTo>
                <a:lnTo>
                  <a:pt x="0" y="15594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838200"/>
            <a:ext cx="6886575" cy="3273424"/>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The Inefficiency of Lines</a:t>
            </a:r>
          </a:p>
        </p:txBody>
      </p:sp>
      <p:grpSp>
        <p:nvGrpSpPr>
          <p:cNvPr name="Group 5" id="5"/>
          <p:cNvGrpSpPr/>
          <p:nvPr/>
        </p:nvGrpSpPr>
        <p:grpSpPr>
          <a:xfrm rot="0">
            <a:off x="9296400" y="1562100"/>
            <a:ext cx="6886575" cy="4459955"/>
            <a:chOff x="0" y="0"/>
            <a:chExt cx="9182100" cy="5946607"/>
          </a:xfrm>
        </p:grpSpPr>
        <p:sp>
          <p:nvSpPr>
            <p:cNvPr name="TextBox 6" id="6"/>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Unpredictability in Wait Times</a:t>
              </a:r>
            </a:p>
          </p:txBody>
        </p:sp>
        <p:sp>
          <p:nvSpPr>
            <p:cNvPr name="TextBox 7" id="7"/>
            <p:cNvSpPr txBox="true"/>
            <p:nvPr/>
          </p:nvSpPr>
          <p:spPr>
            <a:xfrm rot="0">
              <a:off x="0" y="711666"/>
              <a:ext cx="9182100" cy="1653540"/>
            </a:xfrm>
            <a:prstGeom prst="rect">
              <a:avLst/>
            </a:prstGeom>
          </p:spPr>
          <p:txBody>
            <a:bodyPr anchor="t" rtlCol="false" tIns="0" lIns="0" bIns="0" rIns="0">
              <a:spAutoFit/>
            </a:bodyPr>
            <a:lstStyle/>
            <a:p>
              <a:pPr algn="l" marL="0" indent="0" lvl="0">
                <a:lnSpc>
                  <a:spcPts val="2519"/>
                </a:lnSpc>
              </a:pPr>
              <a:r>
                <a:rPr lang="en-US" sz="1799" spc="35">
                  <a:solidFill>
                    <a:srgbClr val="3A3A3A"/>
                  </a:solidFill>
                  <a:latin typeface="Be Vietnam"/>
                  <a:ea typeface="Be Vietnam"/>
                  <a:cs typeface="Be Vietnam"/>
                  <a:sym typeface="Be Vietnam"/>
                </a:rPr>
                <a:t>Long wait times create </a:t>
              </a:r>
              <a:r>
                <a:rPr lang="en-US" b="true" sz="1799" spc="35">
                  <a:solidFill>
                    <a:srgbClr val="3A3A3A"/>
                  </a:solidFill>
                  <a:latin typeface="Be Vietnam Ultra-Bold"/>
                  <a:ea typeface="Be Vietnam Ultra-Bold"/>
                  <a:cs typeface="Be Vietnam Ultra-Bold"/>
                  <a:sym typeface="Be Vietnam Ultra-Bold"/>
                </a:rPr>
                <a:t>stress and frustration</a:t>
              </a:r>
              <a:r>
                <a:rPr lang="en-US" sz="1799" spc="35">
                  <a:solidFill>
                    <a:srgbClr val="3A3A3A"/>
                  </a:solidFill>
                  <a:latin typeface="Be Vietnam"/>
                  <a:ea typeface="Be Vietnam"/>
                  <a:cs typeface="Be Vietnam"/>
                  <a:sym typeface="Be Vietnam"/>
                </a:rPr>
                <a:t>, making it difficult for consumers to manage their schedules effectively and causing uncertainty for businesses in planning resources.</a:t>
              </a:r>
            </a:p>
          </p:txBody>
        </p:sp>
        <p:sp>
          <p:nvSpPr>
            <p:cNvPr name="TextBox 8" id="8"/>
            <p:cNvSpPr txBox="true"/>
            <p:nvPr/>
          </p:nvSpPr>
          <p:spPr>
            <a:xfrm rot="0">
              <a:off x="0" y="39624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Wasted Time and Resources</a:t>
              </a:r>
            </a:p>
          </p:txBody>
        </p:sp>
        <p:sp>
          <p:nvSpPr>
            <p:cNvPr name="TextBox 9" id="9"/>
            <p:cNvSpPr txBox="true"/>
            <p:nvPr/>
          </p:nvSpPr>
          <p:spPr>
            <a:xfrm rot="0">
              <a:off x="0" y="4712166"/>
              <a:ext cx="9182100" cy="1234440"/>
            </a:xfrm>
            <a:prstGeom prst="rect">
              <a:avLst/>
            </a:prstGeom>
          </p:spPr>
          <p:txBody>
            <a:bodyPr anchor="t" rtlCol="false" tIns="0" lIns="0" bIns="0" rIns="0">
              <a:spAutoFit/>
            </a:bodyPr>
            <a:lstStyle/>
            <a:p>
              <a:pPr algn="l" marL="0" indent="0" lvl="0">
                <a:lnSpc>
                  <a:spcPts val="2519"/>
                </a:lnSpc>
              </a:pPr>
              <a:r>
                <a:rPr lang="en-US" sz="1799" spc="35">
                  <a:solidFill>
                    <a:srgbClr val="3A3A3A"/>
                  </a:solidFill>
                  <a:latin typeface="Be Vietnam"/>
                  <a:ea typeface="Be Vietnam"/>
                  <a:cs typeface="Be Vietnam"/>
                  <a:sym typeface="Be Vietnam"/>
                </a:rPr>
                <a:t>Inefficient queues lead to </a:t>
              </a:r>
              <a:r>
                <a:rPr lang="en-US" b="true" sz="1799" spc="35">
                  <a:solidFill>
                    <a:srgbClr val="3A3A3A"/>
                  </a:solidFill>
                  <a:latin typeface="Be Vietnam Ultra-Bold"/>
                  <a:ea typeface="Be Vietnam Ultra-Bold"/>
                  <a:cs typeface="Be Vietnam Ultra-Bold"/>
                  <a:sym typeface="Be Vietnam Ultra-Bold"/>
                </a:rPr>
                <a:t>significant productivity loss</a:t>
              </a:r>
              <a:r>
                <a:rPr lang="en-US" sz="1799" spc="35">
                  <a:solidFill>
                    <a:srgbClr val="3A3A3A"/>
                  </a:solidFill>
                  <a:latin typeface="Be Vietnam"/>
                  <a:ea typeface="Be Vietnam"/>
                  <a:cs typeface="Be Vietnam"/>
                  <a:sym typeface="Be Vietnam"/>
                </a:rPr>
                <a:t>, impacting both customers and organizations as time spent waiting could be better utilized for more valuable activities.</a:t>
              </a:r>
            </a:p>
          </p:txBody>
        </p:sp>
      </p:grpSp>
      <p:sp>
        <p:nvSpPr>
          <p:cNvPr name="Freeform 10" id="10"/>
          <p:cNvSpPr/>
          <p:nvPr/>
        </p:nvSpPr>
        <p:spPr>
          <a:xfrm flipH="false" flipV="false" rot="0">
            <a:off x="666750" y="8060757"/>
            <a:ext cx="1775820" cy="1559493"/>
          </a:xfrm>
          <a:custGeom>
            <a:avLst/>
            <a:gdLst/>
            <a:ahLst/>
            <a:cxnLst/>
            <a:rect r="r" b="b" t="t" l="l"/>
            <a:pathLst>
              <a:path h="1559493" w="1775820">
                <a:moveTo>
                  <a:pt x="0" y="0"/>
                </a:moveTo>
                <a:lnTo>
                  <a:pt x="1775820" y="0"/>
                </a:lnTo>
                <a:lnTo>
                  <a:pt x="1775820" y="1559493"/>
                </a:lnTo>
                <a:lnTo>
                  <a:pt x="0" y="15594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AutoShape 2" id="2"/>
          <p:cNvSpPr/>
          <p:nvPr/>
        </p:nvSpPr>
        <p:spPr>
          <a:xfrm flipV="true">
            <a:off x="5029200" y="666750"/>
            <a:ext cx="12592050" cy="19050"/>
          </a:xfrm>
          <a:prstGeom prst="line">
            <a:avLst/>
          </a:prstGeom>
          <a:ln cap="flat" w="28575">
            <a:solidFill>
              <a:srgbClr val="3A3A3A"/>
            </a:solidFill>
            <a:prstDash val="solid"/>
            <a:headEnd type="none" len="sm" w="sm"/>
            <a:tailEnd type="none" len="sm" w="sm"/>
          </a:ln>
        </p:spPr>
      </p:sp>
      <p:sp>
        <p:nvSpPr>
          <p:cNvPr name="Freeform 3" id="3"/>
          <p:cNvSpPr/>
          <p:nvPr/>
        </p:nvSpPr>
        <p:spPr>
          <a:xfrm flipH="false" flipV="false" rot="0">
            <a:off x="666750" y="685800"/>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7423151"/>
            <a:ext cx="16954500" cy="2197099"/>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Real-World Inefficiencies in Queuing Systems</a:t>
            </a:r>
          </a:p>
        </p:txBody>
      </p:sp>
      <p:grpSp>
        <p:nvGrpSpPr>
          <p:cNvPr name="Group 5" id="5"/>
          <p:cNvGrpSpPr/>
          <p:nvPr/>
        </p:nvGrpSpPr>
        <p:grpSpPr>
          <a:xfrm rot="0">
            <a:off x="4981575" y="1208474"/>
            <a:ext cx="4010025" cy="1772991"/>
            <a:chOff x="0" y="0"/>
            <a:chExt cx="5346700" cy="2363988"/>
          </a:xfrm>
        </p:grpSpPr>
        <p:sp>
          <p:nvSpPr>
            <p:cNvPr name="TextBox 6" id="6"/>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Clinics</a:t>
              </a:r>
            </a:p>
          </p:txBody>
        </p:sp>
        <p:sp>
          <p:nvSpPr>
            <p:cNvPr name="TextBox 7" id="7"/>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pPr>
              <a:r>
                <a:rPr lang="en-US" sz="1800" spc="36">
                  <a:solidFill>
                    <a:srgbClr val="3A3A3A"/>
                  </a:solidFill>
                  <a:latin typeface="Be Vietnam"/>
                  <a:ea typeface="Be Vietnam"/>
                  <a:cs typeface="Be Vietnam"/>
                  <a:sym typeface="Be Vietnam"/>
                </a:rPr>
                <a:t>Patients often face </a:t>
              </a:r>
              <a:r>
                <a:rPr lang="en-US" b="true" sz="1800" spc="36">
                  <a:solidFill>
                    <a:srgbClr val="3A3A3A"/>
                  </a:solidFill>
                  <a:latin typeface="Be Vietnam Ultra-Bold"/>
                  <a:ea typeface="Be Vietnam Ultra-Bold"/>
                  <a:cs typeface="Be Vietnam Ultra-Bold"/>
                  <a:sym typeface="Be Vietnam Ultra-Bold"/>
                </a:rPr>
                <a:t>long wait times</a:t>
              </a:r>
              <a:r>
                <a:rPr lang="en-US" sz="1800" spc="36">
                  <a:solidFill>
                    <a:srgbClr val="3A3A3A"/>
                  </a:solidFill>
                  <a:latin typeface="Be Vietnam"/>
                  <a:ea typeface="Be Vietnam"/>
                  <a:cs typeface="Be Vietnam"/>
                  <a:sym typeface="Be Vietnam"/>
                </a:rPr>
                <a:t>, leading to frustration and decreased satisfaction in healthcare services.</a:t>
              </a:r>
            </a:p>
          </p:txBody>
        </p:sp>
      </p:grpSp>
      <p:grpSp>
        <p:nvGrpSpPr>
          <p:cNvPr name="Group 8" id="8"/>
          <p:cNvGrpSpPr/>
          <p:nvPr/>
        </p:nvGrpSpPr>
        <p:grpSpPr>
          <a:xfrm rot="0">
            <a:off x="4981575" y="4265859"/>
            <a:ext cx="4010025" cy="1772991"/>
            <a:chOff x="0" y="0"/>
            <a:chExt cx="5346700" cy="2363988"/>
          </a:xfrm>
        </p:grpSpPr>
        <p:sp>
          <p:nvSpPr>
            <p:cNvPr name="TextBox 9" id="9"/>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Campus Offices</a:t>
              </a:r>
            </a:p>
          </p:txBody>
        </p:sp>
        <p:sp>
          <p:nvSpPr>
            <p:cNvPr name="TextBox 10" id="10"/>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pPr>
              <a:r>
                <a:rPr lang="en-US" sz="1800" spc="36">
                  <a:solidFill>
                    <a:srgbClr val="3A3A3A"/>
                  </a:solidFill>
                  <a:latin typeface="Be Vietnam"/>
                  <a:ea typeface="Be Vietnam"/>
                  <a:cs typeface="Be Vietnam"/>
                  <a:sym typeface="Be Vietnam"/>
                </a:rPr>
                <a:t>Students spend unnecessary hours in </a:t>
              </a:r>
              <a:r>
                <a:rPr lang="en-US" b="true" sz="1800" spc="36">
                  <a:solidFill>
                    <a:srgbClr val="3A3A3A"/>
                  </a:solidFill>
                  <a:latin typeface="Be Vietnam Ultra-Bold"/>
                  <a:ea typeface="Be Vietnam Ultra-Bold"/>
                  <a:cs typeface="Be Vietnam Ultra-Bold"/>
                  <a:sym typeface="Be Vietnam Ultra-Bold"/>
                </a:rPr>
                <a:t>long lines</a:t>
              </a:r>
              <a:r>
                <a:rPr lang="en-US" sz="1800" spc="36">
                  <a:solidFill>
                    <a:srgbClr val="3A3A3A"/>
                  </a:solidFill>
                  <a:latin typeface="Be Vietnam"/>
                  <a:ea typeface="Be Vietnam"/>
                  <a:cs typeface="Be Vietnam"/>
                  <a:sym typeface="Be Vietnam"/>
                </a:rPr>
                <a:t> at campus offices, impacting their academic schedules and productivity.</a:t>
              </a:r>
            </a:p>
          </p:txBody>
        </p:sp>
      </p:grpSp>
      <p:grpSp>
        <p:nvGrpSpPr>
          <p:cNvPr name="Group 11" id="11"/>
          <p:cNvGrpSpPr/>
          <p:nvPr/>
        </p:nvGrpSpPr>
        <p:grpSpPr>
          <a:xfrm rot="0">
            <a:off x="9296400" y="1208474"/>
            <a:ext cx="4010025" cy="1772991"/>
            <a:chOff x="0" y="0"/>
            <a:chExt cx="5346700" cy="2363988"/>
          </a:xfrm>
        </p:grpSpPr>
        <p:sp>
          <p:nvSpPr>
            <p:cNvPr name="TextBox 12" id="12"/>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Pharmacies</a:t>
              </a:r>
            </a:p>
          </p:txBody>
        </p:sp>
        <p:sp>
          <p:nvSpPr>
            <p:cNvPr name="TextBox 13" id="13"/>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Prescription pickups can create </a:t>
              </a:r>
              <a:r>
                <a:rPr lang="en-US" b="true" sz="1800" spc="36">
                  <a:solidFill>
                    <a:srgbClr val="3A3A3A"/>
                  </a:solidFill>
                  <a:latin typeface="Be Vietnam Ultra-Bold"/>
                  <a:ea typeface="Be Vietnam Ultra-Bold"/>
                  <a:cs typeface="Be Vietnam Ultra-Bold"/>
                  <a:sym typeface="Be Vietnam Ultra-Bold"/>
                </a:rPr>
                <a:t>bottlenecks</a:t>
              </a:r>
              <a:r>
                <a:rPr lang="en-US" sz="1800" spc="36">
                  <a:solidFill>
                    <a:srgbClr val="3A3A3A"/>
                  </a:solidFill>
                  <a:latin typeface="Be Vietnam"/>
                  <a:ea typeface="Be Vietnam"/>
                  <a:cs typeface="Be Vietnam"/>
                  <a:sym typeface="Be Vietnam"/>
                </a:rPr>
                <a:t>, wasting valuable time for customers and staff alike in pharmacies.</a:t>
              </a:r>
            </a:p>
          </p:txBody>
        </p:sp>
      </p:grpSp>
      <p:grpSp>
        <p:nvGrpSpPr>
          <p:cNvPr name="Group 14" id="14"/>
          <p:cNvGrpSpPr/>
          <p:nvPr/>
        </p:nvGrpSpPr>
        <p:grpSpPr>
          <a:xfrm rot="0">
            <a:off x="9296400" y="4265859"/>
            <a:ext cx="4010025" cy="1772991"/>
            <a:chOff x="0" y="0"/>
            <a:chExt cx="5346700" cy="2363988"/>
          </a:xfrm>
        </p:grpSpPr>
        <p:sp>
          <p:nvSpPr>
            <p:cNvPr name="TextBox 15" id="15"/>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Retail/Service Centers</a:t>
              </a:r>
            </a:p>
          </p:txBody>
        </p:sp>
        <p:sp>
          <p:nvSpPr>
            <p:cNvPr name="TextBox 16" id="16"/>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Busy retail environments also experience </a:t>
              </a:r>
              <a:r>
                <a:rPr lang="en-US" b="true" sz="1800" spc="36">
                  <a:solidFill>
                    <a:srgbClr val="3A3A3A"/>
                  </a:solidFill>
                  <a:latin typeface="Be Vietnam Ultra-Bold"/>
                  <a:ea typeface="Be Vietnam Ultra-Bold"/>
                  <a:cs typeface="Be Vietnam Ultra-Bold"/>
                  <a:sym typeface="Be Vietnam Ultra-Bold"/>
                </a:rPr>
                <a:t>inefficient queuing</a:t>
              </a:r>
              <a:r>
                <a:rPr lang="en-US" sz="1800" spc="36">
                  <a:solidFill>
                    <a:srgbClr val="3A3A3A"/>
                  </a:solidFill>
                  <a:latin typeface="Be Vietnam"/>
                  <a:ea typeface="Be Vietnam"/>
                  <a:cs typeface="Be Vietnam"/>
                  <a:sym typeface="Be Vietnam"/>
                </a:rPr>
                <a:t>, resulting in lost sales opportunities and dissatisfied customers.</a:t>
              </a:r>
            </a:p>
          </p:txBody>
        </p:sp>
      </p:grpSp>
      <p:grpSp>
        <p:nvGrpSpPr>
          <p:cNvPr name="Group 17" id="17"/>
          <p:cNvGrpSpPr/>
          <p:nvPr/>
        </p:nvGrpSpPr>
        <p:grpSpPr>
          <a:xfrm rot="0">
            <a:off x="13611225" y="1208474"/>
            <a:ext cx="4010025" cy="1772991"/>
            <a:chOff x="0" y="0"/>
            <a:chExt cx="5346700" cy="2363988"/>
          </a:xfrm>
        </p:grpSpPr>
        <p:sp>
          <p:nvSpPr>
            <p:cNvPr name="TextBox 18" id="18"/>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DMV</a:t>
              </a:r>
            </a:p>
          </p:txBody>
        </p:sp>
        <p:sp>
          <p:nvSpPr>
            <p:cNvPr name="TextBox 19" id="19"/>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The DMV is notorious for </a:t>
              </a:r>
              <a:r>
                <a:rPr lang="en-US" b="true" sz="1800" spc="36">
                  <a:solidFill>
                    <a:srgbClr val="3A3A3A"/>
                  </a:solidFill>
                  <a:latin typeface="Be Vietnam Ultra-Bold"/>
                  <a:ea typeface="Be Vietnam Ultra-Bold"/>
                  <a:cs typeface="Be Vietnam Ultra-Bold"/>
                  <a:sym typeface="Be Vietnam Ultra-Bold"/>
                </a:rPr>
                <a:t>extended wait periods</a:t>
              </a:r>
              <a:r>
                <a:rPr lang="en-US" sz="1800" spc="36">
                  <a:solidFill>
                    <a:srgbClr val="3A3A3A"/>
                  </a:solidFill>
                  <a:latin typeface="Be Vietnam"/>
                  <a:ea typeface="Be Vietnam"/>
                  <a:cs typeface="Be Vietnam"/>
                  <a:sym typeface="Be Vietnam"/>
                </a:rPr>
                <a:t>, leaving individuals feeling overwhelmed and unproductive during visits.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AutoShape 2" id="2"/>
          <p:cNvSpPr/>
          <p:nvPr/>
        </p:nvSpPr>
        <p:spPr>
          <a:xfrm>
            <a:off x="9296400" y="666750"/>
            <a:ext cx="8324850" cy="0"/>
          </a:xfrm>
          <a:prstGeom prst="line">
            <a:avLst/>
          </a:prstGeom>
          <a:ln cap="flat" w="28575">
            <a:solidFill>
              <a:srgbClr val="3A3A3A"/>
            </a:solidFill>
            <a:prstDash val="solid"/>
            <a:headEnd type="none" len="sm" w="sm"/>
            <a:tailEnd type="none" len="sm" w="sm"/>
          </a:ln>
        </p:spPr>
      </p:sp>
      <p:sp>
        <p:nvSpPr>
          <p:cNvPr name="Freeform 3" id="3"/>
          <p:cNvSpPr/>
          <p:nvPr/>
        </p:nvSpPr>
        <p:spPr>
          <a:xfrm flipH="false" flipV="false" rot="0">
            <a:off x="666750" y="685800"/>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8499476"/>
            <a:ext cx="16954500" cy="1120774"/>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Existing Tools Challenges</a:t>
            </a:r>
          </a:p>
        </p:txBody>
      </p:sp>
      <p:grpSp>
        <p:nvGrpSpPr>
          <p:cNvPr name="Group 5" id="5"/>
          <p:cNvGrpSpPr/>
          <p:nvPr/>
        </p:nvGrpSpPr>
        <p:grpSpPr>
          <a:xfrm rot="0">
            <a:off x="9296400" y="1208474"/>
            <a:ext cx="4010025" cy="1772991"/>
            <a:chOff x="0" y="0"/>
            <a:chExt cx="5346700" cy="2363988"/>
          </a:xfrm>
        </p:grpSpPr>
        <p:sp>
          <p:nvSpPr>
            <p:cNvPr name="TextBox 6" id="6"/>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Rough Estimates</a:t>
              </a:r>
            </a:p>
          </p:txBody>
        </p:sp>
        <p:sp>
          <p:nvSpPr>
            <p:cNvPr name="TextBox 7" id="7"/>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Existing tools often rely on </a:t>
              </a:r>
              <a:r>
                <a:rPr lang="en-US" b="true" sz="1800" spc="36">
                  <a:solidFill>
                    <a:srgbClr val="3A3A3A"/>
                  </a:solidFill>
                  <a:latin typeface="Be Vietnam Ultra-Bold"/>
                  <a:ea typeface="Be Vietnam Ultra-Bold"/>
                  <a:cs typeface="Be Vietnam Ultra-Bold"/>
                  <a:sym typeface="Be Vietnam Ultra-Bold"/>
                </a:rPr>
                <a:t>inaccurate estimations</a:t>
              </a:r>
              <a:r>
                <a:rPr lang="en-US" sz="1800" spc="36">
                  <a:solidFill>
                    <a:srgbClr val="3A3A3A"/>
                  </a:solidFill>
                  <a:latin typeface="Be Vietnam"/>
                  <a:ea typeface="Be Vietnam"/>
                  <a:cs typeface="Be Vietnam"/>
                  <a:sym typeface="Be Vietnam"/>
                </a:rPr>
                <a:t>, leading to frustration and inefficiency for both consumers and businesses.</a:t>
              </a:r>
            </a:p>
          </p:txBody>
        </p:sp>
      </p:grpSp>
      <p:grpSp>
        <p:nvGrpSpPr>
          <p:cNvPr name="Group 8" id="8"/>
          <p:cNvGrpSpPr/>
          <p:nvPr/>
        </p:nvGrpSpPr>
        <p:grpSpPr>
          <a:xfrm rot="0">
            <a:off x="13611225" y="1208474"/>
            <a:ext cx="4010025" cy="1772991"/>
            <a:chOff x="0" y="0"/>
            <a:chExt cx="5346700" cy="2363988"/>
          </a:xfrm>
        </p:grpSpPr>
        <p:sp>
          <p:nvSpPr>
            <p:cNvPr name="TextBox 9" id="9"/>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Outdated Systems</a:t>
              </a:r>
            </a:p>
          </p:txBody>
        </p:sp>
        <p:sp>
          <p:nvSpPr>
            <p:cNvPr name="TextBox 10" id="10"/>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Many organizations still use </a:t>
              </a:r>
              <a:r>
                <a:rPr lang="en-US" b="true" sz="1800" spc="36">
                  <a:solidFill>
                    <a:srgbClr val="3A3A3A"/>
                  </a:solidFill>
                  <a:latin typeface="Be Vietnam Ultra-Bold"/>
                  <a:ea typeface="Be Vietnam Ultra-Bold"/>
                  <a:cs typeface="Be Vietnam Ultra-Bold"/>
                  <a:sym typeface="Be Vietnam Ultra-Bold"/>
                </a:rPr>
                <a:t>legacy systems</a:t>
              </a:r>
              <a:r>
                <a:rPr lang="en-US" sz="1800" spc="36">
                  <a:solidFill>
                    <a:srgbClr val="3A3A3A"/>
                  </a:solidFill>
                  <a:latin typeface="Be Vietnam"/>
                  <a:ea typeface="Be Vietnam"/>
                  <a:cs typeface="Be Vietnam"/>
                  <a:sym typeface="Be Vietnam"/>
                </a:rPr>
                <a:t> that lack integration, resulting in poor communication and visibility of wait times.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AutoShape 2" id="2"/>
          <p:cNvSpPr/>
          <p:nvPr/>
        </p:nvSpPr>
        <p:spPr>
          <a:xfrm>
            <a:off x="9296400" y="685800"/>
            <a:ext cx="8324850" cy="0"/>
          </a:xfrm>
          <a:prstGeom prst="line">
            <a:avLst/>
          </a:prstGeom>
          <a:ln cap="flat" w="28575">
            <a:solidFill>
              <a:srgbClr val="3A3A3A"/>
            </a:solidFill>
            <a:prstDash val="solid"/>
            <a:headEnd type="none" len="sm" w="sm"/>
            <a:tailEnd type="none" len="sm" w="sm"/>
          </a:ln>
        </p:spPr>
      </p:sp>
      <p:sp>
        <p:nvSpPr>
          <p:cNvPr name="Freeform 3" id="3"/>
          <p:cNvSpPr/>
          <p:nvPr/>
        </p:nvSpPr>
        <p:spPr>
          <a:xfrm flipH="false" flipV="false" rot="0">
            <a:off x="2717858" y="8060757"/>
            <a:ext cx="1550987" cy="1559493"/>
          </a:xfrm>
          <a:custGeom>
            <a:avLst/>
            <a:gdLst/>
            <a:ahLst/>
            <a:cxnLst/>
            <a:rect r="r" b="b" t="t" l="l"/>
            <a:pathLst>
              <a:path h="1559493" w="1550987">
                <a:moveTo>
                  <a:pt x="0" y="0"/>
                </a:moveTo>
                <a:lnTo>
                  <a:pt x="1550986" y="0"/>
                </a:lnTo>
                <a:lnTo>
                  <a:pt x="1550986" y="1559493"/>
                </a:lnTo>
                <a:lnTo>
                  <a:pt x="0" y="15594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838200"/>
            <a:ext cx="6886575" cy="2197099"/>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Introducing QueueSense</a:t>
            </a:r>
          </a:p>
        </p:txBody>
      </p:sp>
      <p:grpSp>
        <p:nvGrpSpPr>
          <p:cNvPr name="Group 5" id="5"/>
          <p:cNvGrpSpPr/>
          <p:nvPr/>
        </p:nvGrpSpPr>
        <p:grpSpPr>
          <a:xfrm rot="0">
            <a:off x="9296400" y="1562100"/>
            <a:ext cx="6886575" cy="1773905"/>
            <a:chOff x="0" y="0"/>
            <a:chExt cx="9182100" cy="2365207"/>
          </a:xfrm>
        </p:grpSpPr>
        <p:sp>
          <p:nvSpPr>
            <p:cNvPr name="TextBox 6" id="6"/>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The future of wait-time management solutions</a:t>
              </a:r>
            </a:p>
          </p:txBody>
        </p:sp>
        <p:sp>
          <p:nvSpPr>
            <p:cNvPr name="TextBox 7" id="7"/>
            <p:cNvSpPr txBox="true"/>
            <p:nvPr/>
          </p:nvSpPr>
          <p:spPr>
            <a:xfrm rot="0">
              <a:off x="0" y="711666"/>
              <a:ext cx="9182100" cy="1653540"/>
            </a:xfrm>
            <a:prstGeom prst="rect">
              <a:avLst/>
            </a:prstGeom>
          </p:spPr>
          <p:txBody>
            <a:bodyPr anchor="t" rtlCol="false" tIns="0" lIns="0" bIns="0" rIns="0">
              <a:spAutoFit/>
            </a:bodyPr>
            <a:lstStyle/>
            <a:p>
              <a:pPr algn="l" marL="0" indent="0" lvl="0">
                <a:lnSpc>
                  <a:spcPts val="2519"/>
                </a:lnSpc>
              </a:pPr>
              <a:r>
                <a:rPr lang="en-US" sz="1799" spc="35">
                  <a:solidFill>
                    <a:srgbClr val="3A3A3A"/>
                  </a:solidFill>
                  <a:latin typeface="Be Vietnam"/>
                  <a:ea typeface="Be Vietnam"/>
                  <a:cs typeface="Be Vietnam"/>
                  <a:sym typeface="Be Vietnam"/>
                </a:rPr>
                <a:t>QueueSense offers a </a:t>
              </a:r>
              <a:r>
                <a:rPr lang="en-US" b="true" sz="1799" spc="35">
                  <a:solidFill>
                    <a:srgbClr val="3A3A3A"/>
                  </a:solidFill>
                  <a:latin typeface="Be Vietnam Ultra-Bold"/>
                  <a:ea typeface="Be Vietnam Ultra-Bold"/>
                  <a:cs typeface="Be Vietnam Ultra-Bold"/>
                  <a:sym typeface="Be Vietnam Ultra-Bold"/>
                </a:rPr>
                <a:t>revolutionary platform</a:t>
              </a:r>
              <a:r>
                <a:rPr lang="en-US" sz="1799" spc="35">
                  <a:solidFill>
                    <a:srgbClr val="3A3A3A"/>
                  </a:solidFill>
                  <a:latin typeface="Be Vietnam"/>
                  <a:ea typeface="Be Vietnam"/>
                  <a:cs typeface="Be Vietnam"/>
                  <a:sym typeface="Be Vietnam"/>
                </a:rPr>
                <a:t> that harnesses real-time and predictive analytics, enhancing both consumer experiences and organizational efficiency across various industries.</a:t>
              </a:r>
            </a:p>
          </p:txBody>
        </p:sp>
      </p:grpSp>
      <p:sp>
        <p:nvSpPr>
          <p:cNvPr name="Freeform 8" id="8"/>
          <p:cNvSpPr/>
          <p:nvPr/>
        </p:nvSpPr>
        <p:spPr>
          <a:xfrm flipH="false" flipV="false" rot="0">
            <a:off x="666750" y="8060757"/>
            <a:ext cx="1775820" cy="1559493"/>
          </a:xfrm>
          <a:custGeom>
            <a:avLst/>
            <a:gdLst/>
            <a:ahLst/>
            <a:cxnLst/>
            <a:rect r="r" b="b" t="t" l="l"/>
            <a:pathLst>
              <a:path h="1559493" w="1775820">
                <a:moveTo>
                  <a:pt x="0" y="0"/>
                </a:moveTo>
                <a:lnTo>
                  <a:pt x="1775820" y="0"/>
                </a:lnTo>
                <a:lnTo>
                  <a:pt x="1775820" y="1559493"/>
                </a:lnTo>
                <a:lnTo>
                  <a:pt x="0" y="15594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grpSp>
        <p:nvGrpSpPr>
          <p:cNvPr name="Group 4" id="4"/>
          <p:cNvGrpSpPr/>
          <p:nvPr/>
        </p:nvGrpSpPr>
        <p:grpSpPr>
          <a:xfrm rot="0">
            <a:off x="7858125" y="8161584"/>
            <a:ext cx="6886575" cy="1458666"/>
            <a:chOff x="0" y="0"/>
            <a:chExt cx="9182100" cy="1944888"/>
          </a:xfrm>
        </p:grpSpPr>
        <p:sp>
          <p:nvSpPr>
            <p:cNvPr name="TextBox 5" id="5"/>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Instant clarity for daily decisions</a:t>
              </a:r>
            </a:p>
          </p:txBody>
        </p:sp>
        <p:sp>
          <p:nvSpPr>
            <p:cNvPr name="TextBox 6" id="6"/>
            <p:cNvSpPr txBox="true"/>
            <p:nvPr/>
          </p:nvSpPr>
          <p:spPr>
            <a:xfrm rot="0">
              <a:off x="0" y="710448"/>
              <a:ext cx="9182100" cy="1234440"/>
            </a:xfrm>
            <a:prstGeom prst="rect">
              <a:avLst/>
            </a:prstGeom>
          </p:spPr>
          <p:txBody>
            <a:bodyPr anchor="t" rtlCol="false" tIns="0" lIns="0" bIns="0" rIns="0">
              <a:spAutoFit/>
            </a:bodyPr>
            <a:lstStyle/>
            <a:p>
              <a:pPr algn="l" marL="0" indent="0" lvl="0">
                <a:lnSpc>
                  <a:spcPts val="2520"/>
                </a:lnSpc>
              </a:pPr>
              <a:r>
                <a:rPr lang="en-US" sz="1800" spc="36">
                  <a:solidFill>
                    <a:srgbClr val="3A3A3A"/>
                  </a:solidFill>
                  <a:latin typeface="Be Vietnam"/>
                  <a:ea typeface="Be Vietnam"/>
                  <a:cs typeface="Be Vietnam"/>
                  <a:sym typeface="Be Vietnam"/>
                </a:rPr>
                <a:t>The QueueSense Home Dashboard simplifies user choices by providing </a:t>
              </a:r>
              <a:r>
                <a:rPr lang="en-US" b="true" sz="1800" spc="36">
                  <a:solidFill>
                    <a:srgbClr val="3A3A3A"/>
                  </a:solidFill>
                  <a:latin typeface="Be Vietnam Ultra-Bold"/>
                  <a:ea typeface="Be Vietnam Ultra-Bold"/>
                  <a:cs typeface="Be Vietnam Ultra-Bold"/>
                  <a:sym typeface="Be Vietnam Ultra-Bold"/>
                </a:rPr>
                <a:t>real-time wait-times</a:t>
              </a:r>
              <a:r>
                <a:rPr lang="en-US" sz="1800" spc="36">
                  <a:solidFill>
                    <a:srgbClr val="3A3A3A"/>
                  </a:solidFill>
                  <a:latin typeface="Be Vietnam"/>
                  <a:ea typeface="Be Vietnam"/>
                  <a:cs typeface="Be Vietnam"/>
                  <a:sym typeface="Be Vietnam"/>
                </a:rPr>
                <a:t> and nearby service recommendations.</a:t>
              </a:r>
            </a:p>
          </p:txBody>
        </p:sp>
      </p:grpSp>
      <p:sp>
        <p:nvSpPr>
          <p:cNvPr name="TextBox 7" id="7"/>
          <p:cNvSpPr txBox="true"/>
          <p:nvPr/>
        </p:nvSpPr>
        <p:spPr>
          <a:xfrm rot="0">
            <a:off x="7858125" y="838200"/>
            <a:ext cx="9763125" cy="1120774"/>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Home Dashboard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grpSp>
        <p:nvGrpSpPr>
          <p:cNvPr name="Group 4" id="4"/>
          <p:cNvGrpSpPr/>
          <p:nvPr/>
        </p:nvGrpSpPr>
        <p:grpSpPr>
          <a:xfrm rot="0">
            <a:off x="7858125" y="8161584"/>
            <a:ext cx="6886575" cy="1458666"/>
            <a:chOff x="0" y="0"/>
            <a:chExt cx="9182100" cy="1944888"/>
          </a:xfrm>
        </p:grpSpPr>
        <p:sp>
          <p:nvSpPr>
            <p:cNvPr name="TextBox 5" id="5"/>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Operational excellence through predictive insight</a:t>
              </a:r>
            </a:p>
          </p:txBody>
        </p:sp>
        <p:sp>
          <p:nvSpPr>
            <p:cNvPr name="TextBox 6" id="6"/>
            <p:cNvSpPr txBox="true"/>
            <p:nvPr/>
          </p:nvSpPr>
          <p:spPr>
            <a:xfrm rot="0">
              <a:off x="0" y="710448"/>
              <a:ext cx="9182100" cy="1234440"/>
            </a:xfrm>
            <a:prstGeom prst="rect">
              <a:avLst/>
            </a:prstGeom>
          </p:spPr>
          <p:txBody>
            <a:bodyPr anchor="t" rtlCol="false" tIns="0" lIns="0" bIns="0" rIns="0">
              <a:spAutoFit/>
            </a:bodyPr>
            <a:lstStyle/>
            <a:p>
              <a:pPr algn="l" marL="0" indent="0" lvl="0">
                <a:lnSpc>
                  <a:spcPts val="2520"/>
                </a:lnSpc>
              </a:pPr>
              <a:r>
                <a:rPr lang="en-US" sz="1800" spc="36">
                  <a:solidFill>
                    <a:srgbClr val="3A3A3A"/>
                  </a:solidFill>
                  <a:latin typeface="Be Vietnam"/>
                  <a:ea typeface="Be Vietnam"/>
                  <a:cs typeface="Be Vietnam"/>
                  <a:sym typeface="Be Vietnam"/>
                </a:rPr>
                <a:t>This dashboard provides </a:t>
              </a:r>
              <a:r>
                <a:rPr lang="en-US" b="true" sz="1800" spc="36">
                  <a:solidFill>
                    <a:srgbClr val="3A3A3A"/>
                  </a:solidFill>
                  <a:latin typeface="Be Vietnam Ultra-Bold"/>
                  <a:ea typeface="Be Vietnam Ultra-Bold"/>
                  <a:cs typeface="Be Vietnam Ultra-Bold"/>
                  <a:sym typeface="Be Vietnam Ultra-Bold"/>
                </a:rPr>
                <a:t>critical analytics</a:t>
              </a:r>
              <a:r>
                <a:rPr lang="en-US" sz="1800" spc="36">
                  <a:solidFill>
                    <a:srgbClr val="3A3A3A"/>
                  </a:solidFill>
                  <a:latin typeface="Be Vietnam"/>
                  <a:ea typeface="Be Vietnam"/>
                  <a:cs typeface="Be Vietnam"/>
                  <a:sym typeface="Be Vietnam"/>
                </a:rPr>
                <a:t> for lobby load and staffing patterns, enhancing organizational efficiency and effectiveness.</a:t>
              </a:r>
            </a:p>
          </p:txBody>
        </p:sp>
      </p:grpSp>
      <p:sp>
        <p:nvSpPr>
          <p:cNvPr name="TextBox 7" id="7"/>
          <p:cNvSpPr txBox="true"/>
          <p:nvPr/>
        </p:nvSpPr>
        <p:spPr>
          <a:xfrm rot="0">
            <a:off x="7858125" y="838200"/>
            <a:ext cx="9763125" cy="2197099"/>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Business Efficiency Dashboard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grpSp>
        <p:nvGrpSpPr>
          <p:cNvPr name="Group 4" id="4"/>
          <p:cNvGrpSpPr/>
          <p:nvPr/>
        </p:nvGrpSpPr>
        <p:grpSpPr>
          <a:xfrm rot="0">
            <a:off x="7858125" y="8161584"/>
            <a:ext cx="6886575" cy="1458666"/>
            <a:chOff x="0" y="0"/>
            <a:chExt cx="9182100" cy="1944888"/>
          </a:xfrm>
        </p:grpSpPr>
        <p:sp>
          <p:nvSpPr>
            <p:cNvPr name="TextBox 5" id="5"/>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Reduce overcrowding and improve patient flow</a:t>
              </a:r>
            </a:p>
          </p:txBody>
        </p:sp>
        <p:sp>
          <p:nvSpPr>
            <p:cNvPr name="TextBox 6" id="6"/>
            <p:cNvSpPr txBox="true"/>
            <p:nvPr/>
          </p:nvSpPr>
          <p:spPr>
            <a:xfrm rot="0">
              <a:off x="0" y="710448"/>
              <a:ext cx="9182100" cy="1234440"/>
            </a:xfrm>
            <a:prstGeom prst="rect">
              <a:avLst/>
            </a:prstGeom>
          </p:spPr>
          <p:txBody>
            <a:bodyPr anchor="t" rtlCol="false" tIns="0" lIns="0" bIns="0" rIns="0">
              <a:spAutoFit/>
            </a:bodyPr>
            <a:lstStyle/>
            <a:p>
              <a:pPr algn="l" marL="0" indent="0" lvl="0">
                <a:lnSpc>
                  <a:spcPts val="2520"/>
                </a:lnSpc>
              </a:pPr>
              <a:r>
                <a:rPr lang="en-US" sz="1800" spc="36">
                  <a:solidFill>
                    <a:srgbClr val="3A3A3A"/>
                  </a:solidFill>
                  <a:latin typeface="Be Vietnam"/>
                  <a:ea typeface="Be Vietnam"/>
                  <a:cs typeface="Be Vietnam"/>
                  <a:sym typeface="Be Vietnam"/>
                </a:rPr>
                <a:t>This view illustrates real-time patient counts and predictions, enhancing </a:t>
              </a:r>
              <a:r>
                <a:rPr lang="en-US" b="true" sz="1800" spc="36">
                  <a:solidFill>
                    <a:srgbClr val="3A3A3A"/>
                  </a:solidFill>
                  <a:latin typeface="Be Vietnam Ultra-Bold"/>
                  <a:ea typeface="Be Vietnam Ultra-Bold"/>
                  <a:cs typeface="Be Vietnam Ultra-Bold"/>
                  <a:sym typeface="Be Vietnam Ultra-Bold"/>
                </a:rPr>
                <a:t>operational efficiency</a:t>
              </a:r>
              <a:r>
                <a:rPr lang="en-US" sz="1800" spc="36">
                  <a:solidFill>
                    <a:srgbClr val="3A3A3A"/>
                  </a:solidFill>
                  <a:latin typeface="Be Vietnam"/>
                  <a:ea typeface="Be Vietnam"/>
                  <a:cs typeface="Be Vietnam"/>
                  <a:sym typeface="Be Vietnam"/>
                </a:rPr>
                <a:t> in the clinic environment.</a:t>
              </a:r>
            </a:p>
          </p:txBody>
        </p:sp>
      </p:grpSp>
      <p:sp>
        <p:nvSpPr>
          <p:cNvPr name="TextBox 7" id="7"/>
          <p:cNvSpPr txBox="true"/>
          <p:nvPr/>
        </p:nvSpPr>
        <p:spPr>
          <a:xfrm rot="0">
            <a:off x="7858125" y="838200"/>
            <a:ext cx="9763125" cy="2197099"/>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Clinic Wait-Time View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grpSp>
        <p:nvGrpSpPr>
          <p:cNvPr name="Group 4" id="4"/>
          <p:cNvGrpSpPr/>
          <p:nvPr/>
        </p:nvGrpSpPr>
        <p:grpSpPr>
          <a:xfrm rot="0">
            <a:off x="7858125" y="8161584"/>
            <a:ext cx="6886575" cy="1458666"/>
            <a:chOff x="0" y="0"/>
            <a:chExt cx="9182100" cy="1944888"/>
          </a:xfrm>
        </p:grpSpPr>
        <p:sp>
          <p:nvSpPr>
            <p:cNvPr name="TextBox 5" id="5"/>
            <p:cNvSpPr txBox="true"/>
            <p:nvPr/>
          </p:nvSpPr>
          <p:spPr>
            <a:xfrm rot="0">
              <a:off x="0" y="-38100"/>
              <a:ext cx="91821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Bring order to chaotic service environments</a:t>
              </a:r>
            </a:p>
          </p:txBody>
        </p:sp>
        <p:sp>
          <p:nvSpPr>
            <p:cNvPr name="TextBox 6" id="6"/>
            <p:cNvSpPr txBox="true"/>
            <p:nvPr/>
          </p:nvSpPr>
          <p:spPr>
            <a:xfrm rot="0">
              <a:off x="0" y="710448"/>
              <a:ext cx="9182100" cy="1234440"/>
            </a:xfrm>
            <a:prstGeom prst="rect">
              <a:avLst/>
            </a:prstGeom>
          </p:spPr>
          <p:txBody>
            <a:bodyPr anchor="t" rtlCol="false" tIns="0" lIns="0" bIns="0" rIns="0">
              <a:spAutoFit/>
            </a:bodyPr>
            <a:lstStyle/>
            <a:p>
              <a:pPr algn="l" marL="0" indent="0" lvl="0">
                <a:lnSpc>
                  <a:spcPts val="2520"/>
                </a:lnSpc>
              </a:pPr>
              <a:r>
                <a:rPr lang="en-US" sz="1800" spc="36">
                  <a:solidFill>
                    <a:srgbClr val="3A3A3A"/>
                  </a:solidFill>
                  <a:latin typeface="Be Vietnam"/>
                  <a:ea typeface="Be Vietnam"/>
                  <a:cs typeface="Be Vietnam"/>
                  <a:sym typeface="Be Vietnam"/>
                </a:rPr>
                <a:t>This illustration captures the </a:t>
              </a:r>
              <a:r>
                <a:rPr lang="en-US" b="true" sz="1800" spc="36">
                  <a:solidFill>
                    <a:srgbClr val="3A3A3A"/>
                  </a:solidFill>
                  <a:latin typeface="Be Vietnam Ultra-Bold"/>
                  <a:ea typeface="Be Vietnam Ultra-Bold"/>
                  <a:cs typeface="Be Vietnam Ultra-Bold"/>
                  <a:sym typeface="Be Vietnam Ultra-Bold"/>
                </a:rPr>
                <a:t>dynamic wait-time experience</a:t>
              </a:r>
              <a:r>
                <a:rPr lang="en-US" sz="1800" spc="36">
                  <a:solidFill>
                    <a:srgbClr val="3A3A3A"/>
                  </a:solidFill>
                  <a:latin typeface="Be Vietnam"/>
                  <a:ea typeface="Be Vietnam"/>
                  <a:cs typeface="Be Vietnam"/>
                  <a:sym typeface="Be Vietnam"/>
                </a:rPr>
                <a:t>, showing live updates that enhance customer efficiency and satisfaction.</a:t>
              </a:r>
            </a:p>
          </p:txBody>
        </p:sp>
      </p:grpSp>
      <p:sp>
        <p:nvSpPr>
          <p:cNvPr name="TextBox 7" id="7"/>
          <p:cNvSpPr txBox="true"/>
          <p:nvPr/>
        </p:nvSpPr>
        <p:spPr>
          <a:xfrm rot="0">
            <a:off x="7858125" y="838200"/>
            <a:ext cx="9763125" cy="2197099"/>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Government/DMV View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AutoShape 2" id="2"/>
          <p:cNvSpPr/>
          <p:nvPr/>
        </p:nvSpPr>
        <p:spPr>
          <a:xfrm>
            <a:off x="9296400" y="666750"/>
            <a:ext cx="8324850" cy="0"/>
          </a:xfrm>
          <a:prstGeom prst="line">
            <a:avLst/>
          </a:prstGeom>
          <a:ln cap="flat" w="28575">
            <a:solidFill>
              <a:srgbClr val="3A3A3A"/>
            </a:solidFill>
            <a:prstDash val="solid"/>
            <a:headEnd type="none" len="sm" w="sm"/>
            <a:tailEnd type="none" len="sm" w="sm"/>
          </a:ln>
        </p:spPr>
      </p:sp>
      <p:sp>
        <p:nvSpPr>
          <p:cNvPr name="Freeform 3" id="3"/>
          <p:cNvSpPr/>
          <p:nvPr/>
        </p:nvSpPr>
        <p:spPr>
          <a:xfrm flipH="false" flipV="false" rot="0">
            <a:off x="666750" y="685800"/>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8499476"/>
            <a:ext cx="16954500" cy="1120774"/>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Smart Notifications Overview</a:t>
            </a:r>
          </a:p>
        </p:txBody>
      </p:sp>
      <p:grpSp>
        <p:nvGrpSpPr>
          <p:cNvPr name="Group 5" id="5"/>
          <p:cNvGrpSpPr/>
          <p:nvPr/>
        </p:nvGrpSpPr>
        <p:grpSpPr>
          <a:xfrm rot="0">
            <a:off x="9296400" y="1208474"/>
            <a:ext cx="4010025" cy="1772991"/>
            <a:chOff x="0" y="0"/>
            <a:chExt cx="5346700" cy="2363988"/>
          </a:xfrm>
        </p:grpSpPr>
        <p:sp>
          <p:nvSpPr>
            <p:cNvPr name="TextBox 6" id="6"/>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Dynamic Alerts</a:t>
              </a:r>
            </a:p>
          </p:txBody>
        </p:sp>
        <p:sp>
          <p:nvSpPr>
            <p:cNvPr name="TextBox 7" id="7"/>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Receive timely notifications about changing wait-times to optimize your schedule and reduce waiting periods.</a:t>
              </a:r>
            </a:p>
          </p:txBody>
        </p:sp>
      </p:grpSp>
      <p:grpSp>
        <p:nvGrpSpPr>
          <p:cNvPr name="Group 8" id="8"/>
          <p:cNvGrpSpPr/>
          <p:nvPr/>
        </p:nvGrpSpPr>
        <p:grpSpPr>
          <a:xfrm rot="0">
            <a:off x="13611225" y="1208474"/>
            <a:ext cx="4010025" cy="1830141"/>
            <a:chOff x="0" y="0"/>
            <a:chExt cx="5346700" cy="2440188"/>
          </a:xfrm>
        </p:grpSpPr>
        <p:sp>
          <p:nvSpPr>
            <p:cNvPr name="TextBox 9" id="9"/>
            <p:cNvSpPr txBox="true"/>
            <p:nvPr/>
          </p:nvSpPr>
          <p:spPr>
            <a:xfrm rot="0">
              <a:off x="0" y="-38100"/>
              <a:ext cx="5346700" cy="9575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Personalized Recommendations</a:t>
              </a:r>
            </a:p>
          </p:txBody>
        </p:sp>
        <p:sp>
          <p:nvSpPr>
            <p:cNvPr name="TextBox 10" id="10"/>
            <p:cNvSpPr txBox="true"/>
            <p:nvPr/>
          </p:nvSpPr>
          <p:spPr>
            <a:xfrm rot="0">
              <a:off x="0" y="1205748"/>
              <a:ext cx="5346700" cy="12344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Get tailored suggestions based on real-time data to enhance your planning and overall efficiency.</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1083574" cy="1822834"/>
          </a:xfrm>
        </p:grpSpPr>
        <p:sp>
          <p:nvSpPr>
            <p:cNvPr name="Freeform 3" id="3"/>
            <p:cNvSpPr/>
            <p:nvPr/>
          </p:nvSpPr>
          <p:spPr>
            <a:xfrm flipH="false" flipV="false" rot="0">
              <a:off x="0" y="0"/>
              <a:ext cx="1083574" cy="1822834"/>
            </a:xfrm>
            <a:custGeom>
              <a:avLst/>
              <a:gdLst/>
              <a:ahLst/>
              <a:cxnLst/>
              <a:rect r="r" b="b" t="t" l="l"/>
              <a:pathLst>
                <a:path h="1822834" w="1083574">
                  <a:moveTo>
                    <a:pt x="0" y="0"/>
                  </a:moveTo>
                  <a:lnTo>
                    <a:pt x="1083574" y="0"/>
                  </a:lnTo>
                  <a:lnTo>
                    <a:pt x="1083574" y="1822834"/>
                  </a:lnTo>
                  <a:lnTo>
                    <a:pt x="0" y="1822834"/>
                  </a:lnTo>
                  <a:close/>
                </a:path>
              </a:pathLst>
            </a:custGeom>
            <a:blipFill>
              <a:blip r:embed="rId2"/>
              <a:stretch>
                <a:fillRect l="0" t="-58" r="0" b="-58"/>
              </a:stretch>
            </a:blipFill>
          </p:spPr>
        </p:sp>
      </p:grpSp>
      <p:sp>
        <p:nvSpPr>
          <p:cNvPr name="TextBox 4" id="4"/>
          <p:cNvSpPr txBox="true"/>
          <p:nvPr/>
        </p:nvSpPr>
        <p:spPr>
          <a:xfrm rot="0">
            <a:off x="666750" y="657225"/>
            <a:ext cx="9763125" cy="2181225"/>
          </a:xfrm>
          <a:prstGeom prst="rect">
            <a:avLst/>
          </a:prstGeom>
        </p:spPr>
        <p:txBody>
          <a:bodyPr anchor="t" rtlCol="false" tIns="0" lIns="0" bIns="0" rIns="0">
            <a:spAutoFit/>
          </a:bodyPr>
          <a:lstStyle/>
          <a:p>
            <a:pPr algn="l" marL="0" indent="0" lvl="0">
              <a:lnSpc>
                <a:spcPts val="8612"/>
              </a:lnSpc>
            </a:pPr>
            <a:r>
              <a:rPr lang="en-US" sz="7177">
                <a:solidFill>
                  <a:srgbClr val="3A3A3A"/>
                </a:solidFill>
                <a:latin typeface="Roca Two"/>
                <a:ea typeface="Roca Two"/>
                <a:cs typeface="Roca Two"/>
                <a:sym typeface="Roca Two"/>
              </a:rPr>
              <a:t>How QueueSense Works</a:t>
            </a:r>
          </a:p>
        </p:txBody>
      </p:sp>
      <p:sp>
        <p:nvSpPr>
          <p:cNvPr name="TextBox 5" id="5"/>
          <p:cNvSpPr txBox="true"/>
          <p:nvPr/>
        </p:nvSpPr>
        <p:spPr>
          <a:xfrm rot="0">
            <a:off x="698975" y="3314700"/>
            <a:ext cx="3977800" cy="5021580"/>
          </a:xfrm>
          <a:prstGeom prst="rect">
            <a:avLst/>
          </a:prstGeom>
        </p:spPr>
        <p:txBody>
          <a:bodyPr anchor="t" rtlCol="false" tIns="0" lIns="0" bIns="0" rIns="0">
            <a:spAutoFit/>
          </a:bodyPr>
          <a:lstStyle/>
          <a:p>
            <a:pPr algn="l" marL="0" indent="0" lvl="0">
              <a:lnSpc>
                <a:spcPts val="2519"/>
              </a:lnSpc>
            </a:pPr>
            <a:r>
              <a:rPr lang="en-US" sz="1799" spc="35">
                <a:solidFill>
                  <a:srgbClr val="3A3A3A"/>
                </a:solidFill>
                <a:latin typeface="Be Vietnam"/>
                <a:ea typeface="Be Vietnam"/>
                <a:cs typeface="Be Vietnam"/>
                <a:sym typeface="Be Vietnam"/>
              </a:rPr>
              <a:t>QueueSense operates through a sophisticated </a:t>
            </a:r>
            <a:r>
              <a:rPr lang="en-US" b="true" sz="1799" spc="35">
                <a:solidFill>
                  <a:srgbClr val="3A3A3A"/>
                </a:solidFill>
                <a:latin typeface="Be Vietnam Ultra-Bold"/>
                <a:ea typeface="Be Vietnam Ultra-Bold"/>
                <a:cs typeface="Be Vietnam Ultra-Bold"/>
                <a:sym typeface="Be Vietnam Ultra-Bold"/>
              </a:rPr>
              <a:t>data input mechanism</a:t>
            </a:r>
            <a:r>
              <a:rPr lang="en-US" sz="1799" spc="35">
                <a:solidFill>
                  <a:srgbClr val="3A3A3A"/>
                </a:solidFill>
                <a:latin typeface="Be Vietnam"/>
                <a:ea typeface="Be Vietnam"/>
                <a:cs typeface="Be Vietnam"/>
                <a:sym typeface="Be Vietnam"/>
              </a:rPr>
              <a:t> that collects real-time information from multiple sources. This data is processed by a robust analytics engine, which analyzes patterns and trends in wait times across various sectors. By utilizing predictive modeling techniques, it provides actionable insights that enhance operational efficiency for businesses and convenience for consumers. The result is a seamless experience that addresses inefficiencies in queues across industries.</a:t>
            </a:r>
          </a:p>
        </p:txBody>
      </p:sp>
      <p:sp>
        <p:nvSpPr>
          <p:cNvPr name="TextBox 6" id="6"/>
          <p:cNvSpPr txBox="true"/>
          <p:nvPr/>
        </p:nvSpPr>
        <p:spPr>
          <a:xfrm rot="0">
            <a:off x="5013800" y="3314700"/>
            <a:ext cx="3977800" cy="5650230"/>
          </a:xfrm>
          <a:prstGeom prst="rect">
            <a:avLst/>
          </a:prstGeom>
        </p:spPr>
        <p:txBody>
          <a:bodyPr anchor="t" rtlCol="false" tIns="0" lIns="0" bIns="0" rIns="0">
            <a:spAutoFit/>
          </a:bodyPr>
          <a:lstStyle/>
          <a:p>
            <a:pPr algn="l" marL="0" indent="0" lvl="0">
              <a:lnSpc>
                <a:spcPts val="2519"/>
              </a:lnSpc>
            </a:pPr>
            <a:r>
              <a:rPr lang="en-US" sz="1799" spc="35">
                <a:solidFill>
                  <a:srgbClr val="3A3A3A"/>
                </a:solidFill>
                <a:latin typeface="Be Vietnam"/>
                <a:ea typeface="Be Vietnam"/>
                <a:cs typeface="Be Vietnam"/>
                <a:sym typeface="Be Vietnam"/>
              </a:rPr>
              <a:t>The app and dashboard outputs deliver intuitive visualizations of wait-time predictions, allowing users to make informed decisions. Real-time alerts and notifications keep both consumers and organizations updated on changing conditions. This interconnected system not only improves the user experience but also optimizes staffing and resource allocation for businesses. Consequently, QueueSense transforms traditional wait-time management into a proactive strategy that significantly reduces congestion and enhances productivity.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AutoShape 2" id="2"/>
          <p:cNvSpPr/>
          <p:nvPr/>
        </p:nvSpPr>
        <p:spPr>
          <a:xfrm>
            <a:off x="9296400" y="666750"/>
            <a:ext cx="8324850" cy="0"/>
          </a:xfrm>
          <a:prstGeom prst="line">
            <a:avLst/>
          </a:prstGeom>
          <a:ln cap="flat" w="28575">
            <a:solidFill>
              <a:srgbClr val="3A3A3A"/>
            </a:solidFill>
            <a:prstDash val="solid"/>
            <a:headEnd type="none" len="sm" w="sm"/>
            <a:tailEnd type="none" len="sm" w="sm"/>
          </a:ln>
        </p:spPr>
      </p:sp>
      <p:sp>
        <p:nvSpPr>
          <p:cNvPr name="Freeform 3" id="3"/>
          <p:cNvSpPr/>
          <p:nvPr/>
        </p:nvSpPr>
        <p:spPr>
          <a:xfrm flipH="false" flipV="false" rot="0">
            <a:off x="666750" y="685800"/>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8499476"/>
            <a:ext cx="16954500" cy="1120774"/>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Business Model Overview</a:t>
            </a:r>
          </a:p>
        </p:txBody>
      </p:sp>
      <p:grpSp>
        <p:nvGrpSpPr>
          <p:cNvPr name="Group 5" id="5"/>
          <p:cNvGrpSpPr/>
          <p:nvPr/>
        </p:nvGrpSpPr>
        <p:grpSpPr>
          <a:xfrm rot="0">
            <a:off x="9296400" y="1208474"/>
            <a:ext cx="4010025" cy="1772991"/>
            <a:chOff x="0" y="0"/>
            <a:chExt cx="5346700" cy="2363988"/>
          </a:xfrm>
        </p:grpSpPr>
        <p:sp>
          <p:nvSpPr>
            <p:cNvPr name="TextBox 6" id="6"/>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SaaS Tiers</a:t>
              </a:r>
            </a:p>
          </p:txBody>
        </p:sp>
        <p:sp>
          <p:nvSpPr>
            <p:cNvPr name="TextBox 7" id="7"/>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QueueSense offers flexible subscription plans tailored for varying business needs: Basic, Pro, and Enterprise tiers.</a:t>
              </a:r>
            </a:p>
          </p:txBody>
        </p:sp>
      </p:grpSp>
      <p:grpSp>
        <p:nvGrpSpPr>
          <p:cNvPr name="Group 8" id="8"/>
          <p:cNvGrpSpPr/>
          <p:nvPr/>
        </p:nvGrpSpPr>
        <p:grpSpPr>
          <a:xfrm rot="0">
            <a:off x="13611225" y="1208474"/>
            <a:ext cx="4010025" cy="1772991"/>
            <a:chOff x="0" y="0"/>
            <a:chExt cx="5346700" cy="2363988"/>
          </a:xfrm>
        </p:grpSpPr>
        <p:sp>
          <p:nvSpPr>
            <p:cNvPr name="TextBox 9" id="9"/>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Additional Revenue</a:t>
              </a:r>
            </a:p>
          </p:txBody>
        </p:sp>
        <p:sp>
          <p:nvSpPr>
            <p:cNvPr name="TextBox 10" id="10"/>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Premium consumer subscriptions and data insights licensing create supplementary revenue streams for sustainable growth.</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AutoShape 2" id="2"/>
          <p:cNvSpPr/>
          <p:nvPr/>
        </p:nvSpPr>
        <p:spPr>
          <a:xfrm>
            <a:off x="9296400" y="666750"/>
            <a:ext cx="8324850" cy="0"/>
          </a:xfrm>
          <a:prstGeom prst="line">
            <a:avLst/>
          </a:prstGeom>
          <a:ln cap="flat" w="28575">
            <a:solidFill>
              <a:srgbClr val="3A3A3A"/>
            </a:solidFill>
            <a:prstDash val="solid"/>
            <a:headEnd type="none" len="sm" w="sm"/>
            <a:tailEnd type="none" len="sm" w="sm"/>
          </a:ln>
        </p:spPr>
      </p:sp>
      <p:sp>
        <p:nvSpPr>
          <p:cNvPr name="Freeform 3" id="3"/>
          <p:cNvSpPr/>
          <p:nvPr/>
        </p:nvSpPr>
        <p:spPr>
          <a:xfrm flipH="false" flipV="false" rot="0">
            <a:off x="666750" y="685800"/>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7423151"/>
            <a:ext cx="16954500" cy="2197099"/>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Market segments and opportunities</a:t>
            </a:r>
          </a:p>
        </p:txBody>
      </p:sp>
      <p:grpSp>
        <p:nvGrpSpPr>
          <p:cNvPr name="Group 5" id="5"/>
          <p:cNvGrpSpPr/>
          <p:nvPr/>
        </p:nvGrpSpPr>
        <p:grpSpPr>
          <a:xfrm rot="0">
            <a:off x="9296400" y="1208474"/>
            <a:ext cx="4010025" cy="1772991"/>
            <a:chOff x="0" y="0"/>
            <a:chExt cx="5346700" cy="2363988"/>
          </a:xfrm>
        </p:grpSpPr>
        <p:sp>
          <p:nvSpPr>
            <p:cNvPr name="TextBox 6" id="6"/>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Healthcare</a:t>
              </a:r>
            </a:p>
          </p:txBody>
        </p:sp>
        <p:sp>
          <p:nvSpPr>
            <p:cNvPr name="TextBox 7" id="7"/>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QueueSense optimizes patient flow, reducing wait-times and enhancing the overall experience for both patients and providers.</a:t>
              </a:r>
            </a:p>
          </p:txBody>
        </p:sp>
      </p:grpSp>
      <p:grpSp>
        <p:nvGrpSpPr>
          <p:cNvPr name="Group 8" id="8"/>
          <p:cNvGrpSpPr/>
          <p:nvPr/>
        </p:nvGrpSpPr>
        <p:grpSpPr>
          <a:xfrm rot="0">
            <a:off x="13611225" y="1208474"/>
            <a:ext cx="4010025" cy="1772991"/>
            <a:chOff x="0" y="0"/>
            <a:chExt cx="5346700" cy="2363988"/>
          </a:xfrm>
        </p:grpSpPr>
        <p:sp>
          <p:nvSpPr>
            <p:cNvPr name="TextBox 9" id="9"/>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Government</a:t>
              </a:r>
            </a:p>
          </p:txBody>
        </p:sp>
        <p:sp>
          <p:nvSpPr>
            <p:cNvPr name="TextBox 10" id="10"/>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Streamlining services at DMV and other agencies, QueueSense helps manage crowds and improve citizen satisfaction and workflow.</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AutoShape 2" id="2"/>
          <p:cNvSpPr/>
          <p:nvPr/>
        </p:nvSpPr>
        <p:spPr>
          <a:xfrm>
            <a:off x="9296400" y="666750"/>
            <a:ext cx="8324850" cy="0"/>
          </a:xfrm>
          <a:prstGeom prst="line">
            <a:avLst/>
          </a:prstGeom>
          <a:ln cap="flat" w="28575">
            <a:solidFill>
              <a:srgbClr val="3A3A3A"/>
            </a:solidFill>
            <a:prstDash val="solid"/>
            <a:headEnd type="none" len="sm" w="sm"/>
            <a:tailEnd type="none" len="sm" w="sm"/>
          </a:ln>
        </p:spPr>
      </p:sp>
      <p:sp>
        <p:nvSpPr>
          <p:cNvPr name="Freeform 3" id="3"/>
          <p:cNvSpPr/>
          <p:nvPr/>
        </p:nvSpPr>
        <p:spPr>
          <a:xfrm flipH="false" flipV="false" rot="0">
            <a:off x="666750" y="685800"/>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66750" y="7423151"/>
            <a:ext cx="16954500" cy="2197099"/>
          </a:xfrm>
          <a:prstGeom prst="rect">
            <a:avLst/>
          </a:prstGeom>
        </p:spPr>
        <p:txBody>
          <a:bodyPr anchor="t" rtlCol="false" tIns="0" lIns="0" bIns="0" rIns="0">
            <a:spAutoFit/>
          </a:bodyPr>
          <a:lstStyle/>
          <a:p>
            <a:pPr algn="l" marL="0" indent="0" lvl="0">
              <a:lnSpc>
                <a:spcPts val="8499"/>
              </a:lnSpc>
            </a:pPr>
            <a:r>
              <a:rPr lang="en-US" sz="8499">
                <a:solidFill>
                  <a:srgbClr val="3A3A3A"/>
                </a:solidFill>
                <a:latin typeface="Roca Two"/>
                <a:ea typeface="Roca Two"/>
                <a:cs typeface="Roca Two"/>
                <a:sym typeface="Roca Two"/>
              </a:rPr>
              <a:t>Competitive Advantages of QueueSense</a:t>
            </a:r>
          </a:p>
        </p:txBody>
      </p:sp>
      <p:grpSp>
        <p:nvGrpSpPr>
          <p:cNvPr name="Group 5" id="5"/>
          <p:cNvGrpSpPr/>
          <p:nvPr/>
        </p:nvGrpSpPr>
        <p:grpSpPr>
          <a:xfrm rot="0">
            <a:off x="9296400" y="1208474"/>
            <a:ext cx="4010025" cy="1772991"/>
            <a:chOff x="0" y="0"/>
            <a:chExt cx="5346700" cy="2363988"/>
          </a:xfrm>
        </p:grpSpPr>
        <p:sp>
          <p:nvSpPr>
            <p:cNvPr name="TextBox 6" id="6"/>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Cross-Industry Platform</a:t>
              </a:r>
            </a:p>
          </p:txBody>
        </p:sp>
        <p:sp>
          <p:nvSpPr>
            <p:cNvPr name="TextBox 7" id="7"/>
            <p:cNvSpPr txBox="true"/>
            <p:nvPr/>
          </p:nvSpPr>
          <p:spPr>
            <a:xfrm rot="0">
              <a:off x="0" y="710448"/>
              <a:ext cx="5346700" cy="16535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QueueSense is the </a:t>
              </a:r>
              <a:r>
                <a:rPr lang="en-US" b="true" sz="1800" spc="36">
                  <a:solidFill>
                    <a:srgbClr val="3A3A3A"/>
                  </a:solidFill>
                  <a:latin typeface="Be Vietnam Ultra-Bold"/>
                  <a:ea typeface="Be Vietnam Ultra-Bold"/>
                  <a:cs typeface="Be Vietnam Ultra-Bold"/>
                  <a:sym typeface="Be Vietnam Ultra-Bold"/>
                </a:rPr>
                <a:t>first platform</a:t>
              </a:r>
              <a:r>
                <a:rPr lang="en-US" sz="1800" spc="36">
                  <a:solidFill>
                    <a:srgbClr val="3A3A3A"/>
                  </a:solidFill>
                  <a:latin typeface="Be Vietnam"/>
                  <a:ea typeface="Be Vietnam"/>
                  <a:cs typeface="Be Vietnam"/>
                  <a:sym typeface="Be Vietnam"/>
                </a:rPr>
                <a:t> uniting various industries to tackle wait-time inefficiencies seamlessly.</a:t>
              </a:r>
            </a:p>
          </p:txBody>
        </p:sp>
      </p:grpSp>
      <p:grpSp>
        <p:nvGrpSpPr>
          <p:cNvPr name="Group 8" id="8"/>
          <p:cNvGrpSpPr/>
          <p:nvPr/>
        </p:nvGrpSpPr>
        <p:grpSpPr>
          <a:xfrm rot="0">
            <a:off x="13611225" y="1208474"/>
            <a:ext cx="4010025" cy="2087316"/>
            <a:chOff x="0" y="0"/>
            <a:chExt cx="5346700" cy="2783088"/>
          </a:xfrm>
        </p:grpSpPr>
        <p:sp>
          <p:nvSpPr>
            <p:cNvPr name="TextBox 9" id="9"/>
            <p:cNvSpPr txBox="true"/>
            <p:nvPr/>
          </p:nvSpPr>
          <p:spPr>
            <a:xfrm rot="0">
              <a:off x="0" y="-38100"/>
              <a:ext cx="5346700" cy="462280"/>
            </a:xfrm>
            <a:prstGeom prst="rect">
              <a:avLst/>
            </a:prstGeom>
          </p:spPr>
          <p:txBody>
            <a:bodyPr anchor="t" rtlCol="false" tIns="0" lIns="0" bIns="0" rIns="0">
              <a:spAutoFit/>
            </a:bodyPr>
            <a:lstStyle/>
            <a:p>
              <a:pPr algn="l" marL="0" indent="0" lvl="0">
                <a:lnSpc>
                  <a:spcPts val="2940"/>
                </a:lnSpc>
                <a:spcBef>
                  <a:spcPct val="0"/>
                </a:spcBef>
              </a:pPr>
              <a:r>
                <a:rPr lang="en-US" b="true" sz="2100" spc="21">
                  <a:solidFill>
                    <a:srgbClr val="5D81A9"/>
                  </a:solidFill>
                  <a:latin typeface="Be Vietnam Ultra-Bold"/>
                  <a:ea typeface="Be Vietnam Ultra-Bold"/>
                  <a:cs typeface="Be Vietnam Ultra-Bold"/>
                  <a:sym typeface="Be Vietnam Ultra-Bold"/>
                </a:rPr>
                <a:t>Predictive Analytics</a:t>
              </a:r>
            </a:p>
          </p:txBody>
        </p:sp>
        <p:sp>
          <p:nvSpPr>
            <p:cNvPr name="TextBox 10" id="10"/>
            <p:cNvSpPr txBox="true"/>
            <p:nvPr/>
          </p:nvSpPr>
          <p:spPr>
            <a:xfrm rot="0">
              <a:off x="0" y="710448"/>
              <a:ext cx="5346700" cy="2072640"/>
            </a:xfrm>
            <a:prstGeom prst="rect">
              <a:avLst/>
            </a:prstGeom>
          </p:spPr>
          <p:txBody>
            <a:bodyPr anchor="t" rtlCol="false" tIns="0" lIns="0" bIns="0" rIns="0">
              <a:spAutoFit/>
            </a:bodyPr>
            <a:lstStyle/>
            <a:p>
              <a:pPr algn="l" marL="0" indent="0" lvl="0">
                <a:lnSpc>
                  <a:spcPts val="2520"/>
                </a:lnSpc>
                <a:spcBef>
                  <a:spcPct val="0"/>
                </a:spcBef>
              </a:pPr>
              <a:r>
                <a:rPr lang="en-US" sz="1800" spc="36">
                  <a:solidFill>
                    <a:srgbClr val="3A3A3A"/>
                  </a:solidFill>
                  <a:latin typeface="Be Vietnam"/>
                  <a:ea typeface="Be Vietnam"/>
                  <a:cs typeface="Be Vietnam"/>
                  <a:sym typeface="Be Vietnam"/>
                </a:rPr>
                <a:t>Our innovative use of predictive analytics allows businesses to </a:t>
              </a:r>
              <a:r>
                <a:rPr lang="en-US" b="true" sz="1800" spc="36">
                  <a:solidFill>
                    <a:srgbClr val="3A3A3A"/>
                  </a:solidFill>
                  <a:latin typeface="Be Vietnam Ultra-Bold"/>
                  <a:ea typeface="Be Vietnam Ultra-Bold"/>
                  <a:cs typeface="Be Vietnam Ultra-Bold"/>
                  <a:sym typeface="Be Vietnam Ultra-Bold"/>
                </a:rPr>
                <a:t>make informed decisions</a:t>
              </a:r>
              <a:r>
                <a:rPr lang="en-US" sz="1800" spc="36">
                  <a:solidFill>
                    <a:srgbClr val="3A3A3A"/>
                  </a:solidFill>
                  <a:latin typeface="Be Vietnam"/>
                  <a:ea typeface="Be Vietnam"/>
                  <a:cs typeface="Be Vietnam"/>
                  <a:sym typeface="Be Vietnam"/>
                </a:rPr>
                <a:t>, optimizing their operations effectively.</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TextBox 2" id="2"/>
          <p:cNvSpPr txBox="true"/>
          <p:nvPr/>
        </p:nvSpPr>
        <p:spPr>
          <a:xfrm rot="0">
            <a:off x="666750" y="927735"/>
            <a:ext cx="12639675" cy="5016499"/>
          </a:xfrm>
          <a:prstGeom prst="rect">
            <a:avLst/>
          </a:prstGeom>
        </p:spPr>
        <p:txBody>
          <a:bodyPr anchor="t" rtlCol="false" tIns="0" lIns="0" bIns="0" rIns="0">
            <a:spAutoFit/>
          </a:bodyPr>
          <a:lstStyle/>
          <a:p>
            <a:pPr algn="l" marL="0" indent="0" lvl="0">
              <a:lnSpc>
                <a:spcPts val="12999"/>
              </a:lnSpc>
            </a:pPr>
            <a:r>
              <a:rPr lang="en-US" sz="12999">
                <a:solidFill>
                  <a:srgbClr val="3A3A3A"/>
                </a:solidFill>
                <a:latin typeface="Roca Two"/>
                <a:ea typeface="Roca Two"/>
                <a:cs typeface="Roca Two"/>
                <a:sym typeface="Roca Two"/>
              </a:rPr>
              <a:t>Contact QueueSense Team</a:t>
            </a:r>
          </a:p>
        </p:txBody>
      </p:sp>
      <p:grpSp>
        <p:nvGrpSpPr>
          <p:cNvPr name="Group 3" id="3"/>
          <p:cNvGrpSpPr/>
          <p:nvPr/>
        </p:nvGrpSpPr>
        <p:grpSpPr>
          <a:xfrm rot="0">
            <a:off x="666750" y="6937958"/>
            <a:ext cx="4010025" cy="883920"/>
            <a:chOff x="0" y="0"/>
            <a:chExt cx="5346700" cy="1178560"/>
          </a:xfrm>
        </p:grpSpPr>
        <p:sp>
          <p:nvSpPr>
            <p:cNvPr name="TextBox 4" id="4"/>
            <p:cNvSpPr txBox="true"/>
            <p:nvPr/>
          </p:nvSpPr>
          <p:spPr>
            <a:xfrm rot="0">
              <a:off x="0" y="-66675"/>
              <a:ext cx="5346700" cy="427355"/>
            </a:xfrm>
            <a:prstGeom prst="rect">
              <a:avLst/>
            </a:prstGeom>
          </p:spPr>
          <p:txBody>
            <a:bodyPr anchor="t" rtlCol="false" tIns="0" lIns="0" bIns="0" rIns="0">
              <a:spAutoFit/>
            </a:bodyPr>
            <a:lstStyle/>
            <a:p>
              <a:pPr algn="l" marL="0" indent="0" lvl="0">
                <a:lnSpc>
                  <a:spcPts val="2880"/>
                </a:lnSpc>
              </a:pPr>
              <a:r>
                <a:rPr lang="en-US" b="true" sz="1800" spc="36" u="none">
                  <a:solidFill>
                    <a:srgbClr val="3A3A3A"/>
                  </a:solidFill>
                  <a:latin typeface="Be Vietnam Ultra-Bold"/>
                  <a:ea typeface="Be Vietnam Ultra-Bold"/>
                  <a:cs typeface="Be Vietnam Ultra-Bold"/>
                  <a:sym typeface="Be Vietnam Ultra-Bold"/>
                </a:rPr>
                <a:t>Email</a:t>
              </a:r>
            </a:p>
          </p:txBody>
        </p:sp>
        <p:sp>
          <p:nvSpPr>
            <p:cNvPr name="TextBox 5" id="5"/>
            <p:cNvSpPr txBox="true"/>
            <p:nvPr/>
          </p:nvSpPr>
          <p:spPr>
            <a:xfrm rot="0">
              <a:off x="0" y="716280"/>
              <a:ext cx="5346700" cy="462280"/>
            </a:xfrm>
            <a:prstGeom prst="rect">
              <a:avLst/>
            </a:prstGeom>
          </p:spPr>
          <p:txBody>
            <a:bodyPr anchor="t" rtlCol="false" tIns="0" lIns="0" bIns="0" rIns="0">
              <a:spAutoFit/>
            </a:bodyPr>
            <a:lstStyle/>
            <a:p>
              <a:pPr algn="l" marL="0" indent="0" lvl="0">
                <a:lnSpc>
                  <a:spcPts val="2940"/>
                </a:lnSpc>
              </a:pPr>
              <a:r>
                <a:rPr lang="en-US" sz="2100" spc="21" u="none">
                  <a:solidFill>
                    <a:srgbClr val="3A3A3A"/>
                  </a:solidFill>
                  <a:latin typeface="Be Vietnam"/>
                  <a:ea typeface="Be Vietnam"/>
                  <a:cs typeface="Be Vietnam"/>
                  <a:sym typeface="Be Vietnam"/>
                </a:rPr>
                <a:t>hello@reallygreatsite.com</a:t>
              </a:r>
            </a:p>
          </p:txBody>
        </p:sp>
      </p:grpSp>
      <p:grpSp>
        <p:nvGrpSpPr>
          <p:cNvPr name="Group 6" id="6"/>
          <p:cNvGrpSpPr/>
          <p:nvPr/>
        </p:nvGrpSpPr>
        <p:grpSpPr>
          <a:xfrm rot="0">
            <a:off x="666750" y="8724900"/>
            <a:ext cx="4010025" cy="887678"/>
            <a:chOff x="0" y="0"/>
            <a:chExt cx="5346700" cy="1183570"/>
          </a:xfrm>
        </p:grpSpPr>
        <p:sp>
          <p:nvSpPr>
            <p:cNvPr name="TextBox 7" id="7"/>
            <p:cNvSpPr txBox="true"/>
            <p:nvPr/>
          </p:nvSpPr>
          <p:spPr>
            <a:xfrm rot="0">
              <a:off x="0" y="-66675"/>
              <a:ext cx="5346700" cy="427355"/>
            </a:xfrm>
            <a:prstGeom prst="rect">
              <a:avLst/>
            </a:prstGeom>
          </p:spPr>
          <p:txBody>
            <a:bodyPr anchor="t" rtlCol="false" tIns="0" lIns="0" bIns="0" rIns="0">
              <a:spAutoFit/>
            </a:bodyPr>
            <a:lstStyle/>
            <a:p>
              <a:pPr algn="l" marL="0" indent="0" lvl="0">
                <a:lnSpc>
                  <a:spcPts val="2880"/>
                </a:lnSpc>
              </a:pPr>
              <a:r>
                <a:rPr lang="en-US" b="true" sz="1800" spc="36">
                  <a:solidFill>
                    <a:srgbClr val="3A3A3A"/>
                  </a:solidFill>
                  <a:latin typeface="Be Vietnam Ultra-Bold"/>
                  <a:ea typeface="Be Vietnam Ultra-Bold"/>
                  <a:cs typeface="Be Vietnam Ultra-Bold"/>
                  <a:sym typeface="Be Vietnam Ultra-Bold"/>
                </a:rPr>
                <a:t>Social Media</a:t>
              </a:r>
            </a:p>
          </p:txBody>
        </p:sp>
        <p:sp>
          <p:nvSpPr>
            <p:cNvPr name="TextBox 8" id="8"/>
            <p:cNvSpPr txBox="true"/>
            <p:nvPr/>
          </p:nvSpPr>
          <p:spPr>
            <a:xfrm rot="0">
              <a:off x="0" y="721290"/>
              <a:ext cx="5346700" cy="462280"/>
            </a:xfrm>
            <a:prstGeom prst="rect">
              <a:avLst/>
            </a:prstGeom>
          </p:spPr>
          <p:txBody>
            <a:bodyPr anchor="t" rtlCol="false" tIns="0" lIns="0" bIns="0" rIns="0">
              <a:spAutoFit/>
            </a:bodyPr>
            <a:lstStyle/>
            <a:p>
              <a:pPr algn="l" marL="0" indent="0" lvl="0">
                <a:lnSpc>
                  <a:spcPts val="2940"/>
                </a:lnSpc>
              </a:pPr>
              <a:r>
                <a:rPr lang="en-US" sz="2100" spc="21">
                  <a:solidFill>
                    <a:srgbClr val="3A3A3A"/>
                  </a:solidFill>
                  <a:latin typeface="Be Vietnam"/>
                  <a:ea typeface="Be Vietnam"/>
                  <a:cs typeface="Be Vietnam"/>
                  <a:sym typeface="Be Vietnam"/>
                </a:rPr>
                <a:t>@reallygreatsite</a:t>
              </a:r>
            </a:p>
          </p:txBody>
        </p:sp>
      </p:grpSp>
      <p:grpSp>
        <p:nvGrpSpPr>
          <p:cNvPr name="Group 9" id="9"/>
          <p:cNvGrpSpPr/>
          <p:nvPr/>
        </p:nvGrpSpPr>
        <p:grpSpPr>
          <a:xfrm rot="0">
            <a:off x="6438318" y="8724900"/>
            <a:ext cx="3991557" cy="887678"/>
            <a:chOff x="0" y="0"/>
            <a:chExt cx="5322076" cy="1183570"/>
          </a:xfrm>
        </p:grpSpPr>
        <p:sp>
          <p:nvSpPr>
            <p:cNvPr name="TextBox 10" id="10"/>
            <p:cNvSpPr txBox="true"/>
            <p:nvPr/>
          </p:nvSpPr>
          <p:spPr>
            <a:xfrm rot="0">
              <a:off x="0" y="-66675"/>
              <a:ext cx="5322076" cy="427355"/>
            </a:xfrm>
            <a:prstGeom prst="rect">
              <a:avLst/>
            </a:prstGeom>
          </p:spPr>
          <p:txBody>
            <a:bodyPr anchor="t" rtlCol="false" tIns="0" lIns="0" bIns="0" rIns="0">
              <a:spAutoFit/>
            </a:bodyPr>
            <a:lstStyle/>
            <a:p>
              <a:pPr algn="l" marL="0" indent="0" lvl="0">
                <a:lnSpc>
                  <a:spcPts val="2880"/>
                </a:lnSpc>
              </a:pPr>
              <a:r>
                <a:rPr lang="en-US" b="true" sz="1800" spc="36">
                  <a:solidFill>
                    <a:srgbClr val="3A3A3A"/>
                  </a:solidFill>
                  <a:latin typeface="Be Vietnam Ultra-Bold"/>
                  <a:ea typeface="Be Vietnam Ultra-Bold"/>
                  <a:cs typeface="Be Vietnam Ultra-Bold"/>
                  <a:sym typeface="Be Vietnam Ultra-Bold"/>
                </a:rPr>
                <a:t>Phone</a:t>
              </a:r>
            </a:p>
          </p:txBody>
        </p:sp>
        <p:sp>
          <p:nvSpPr>
            <p:cNvPr name="TextBox 11" id="11"/>
            <p:cNvSpPr txBox="true"/>
            <p:nvPr/>
          </p:nvSpPr>
          <p:spPr>
            <a:xfrm rot="0">
              <a:off x="0" y="721290"/>
              <a:ext cx="5322076" cy="4622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3A3A3A"/>
                  </a:solidFill>
                  <a:latin typeface="Be Vietnam"/>
                  <a:ea typeface="Be Vietnam"/>
                  <a:cs typeface="Be Vietnam"/>
                  <a:sym typeface="Be Vietnam"/>
                </a:rPr>
                <a:t>123-456-7890</a:t>
              </a:r>
            </a:p>
          </p:txBody>
        </p:sp>
      </p:grpSp>
      <p:sp>
        <p:nvSpPr>
          <p:cNvPr name="Freeform 12" id="12"/>
          <p:cNvSpPr/>
          <p:nvPr/>
        </p:nvSpPr>
        <p:spPr>
          <a:xfrm flipH="false" flipV="false" rot="0">
            <a:off x="15049500" y="7026723"/>
            <a:ext cx="2571750" cy="2585855"/>
          </a:xfrm>
          <a:custGeom>
            <a:avLst/>
            <a:gdLst/>
            <a:ahLst/>
            <a:cxnLst/>
            <a:rect r="r" b="b" t="t" l="l"/>
            <a:pathLst>
              <a:path h="2585855" w="2571750">
                <a:moveTo>
                  <a:pt x="0" y="0"/>
                </a:moveTo>
                <a:lnTo>
                  <a:pt x="2571750" y="0"/>
                </a:lnTo>
                <a:lnTo>
                  <a:pt x="2571750" y="2585855"/>
                </a:lnTo>
                <a:lnTo>
                  <a:pt x="0" y="2585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Predict wait-times</dc:description>
  <dc:identifier>DAG6qAe3k2g</dc:identifier>
  <dcterms:modified xsi:type="dcterms:W3CDTF">2011-08-01T06:04:30Z</dcterms:modified>
  <cp:revision>1</cp:revision>
  <dc:title>Presentation - Predict wait-times</dc:title>
</cp:coreProperties>
</file>